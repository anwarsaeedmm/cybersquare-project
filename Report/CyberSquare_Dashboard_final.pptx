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00A6A6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06640" y="-548640"/>
            <a:ext cx="2926080" cy="2926080"/>
          </a:xfrm>
          <a:prstGeom prst="ellipse">
            <a:avLst/>
          </a:prstGeom>
          <a:solidFill>
            <a:srgbClr val="2F80ED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347472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96012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00A6A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9601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LIVE PROJECT  •  STREAMLIT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Square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94360" y="2331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Performance Dashboard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94360" y="3035808"/>
            <a:ext cx="5486400" cy="41148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18211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Dashboard Pages  ·  Real-time Analytics  ·  AI Strategic Insights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Streamlit  ·  Pandas  ·  Plotly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4041648"/>
            <a:ext cx="192024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407822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9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" y="44439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B4CC"/>
                </a:solidFill>
              </a:rPr>
              <a:t>Dashboard Pages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651760" y="4041648"/>
            <a:ext cx="192024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407822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8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651760" y="44439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B4CC"/>
                </a:solidFill>
              </a:rPr>
              <a:t>CSV Data Sources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4041648"/>
            <a:ext cx="192024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407822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8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709160" y="44439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B4CC"/>
                </a:solidFill>
              </a:rPr>
              <a:t>KPI Sections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66560" y="4041648"/>
            <a:ext cx="192024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407822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40+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766560" y="44439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B4CC"/>
                </a:solidFill>
              </a:rPr>
              <a:t>Interactive Charts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Overview — Executive Command Centre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955280" y="0"/>
            <a:ext cx="1188720" cy="960120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085"/>
                </a:solidFill>
              </a:rPr>
              <a:t>The flagship home page: 8 real-time KPI metrics + 5 AI strategic insight cards + 4 deep-dive chart sections.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201168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44752"/>
            <a:ext cx="2011680" cy="64008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58191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👨‍🎓 Students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84048" y="206654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Total enrolled count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1444752"/>
            <a:ext cx="201168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444752"/>
            <a:ext cx="2011680" cy="64008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58191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📋 Admission Rate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60320" y="206654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Enquiry → admitted 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444752"/>
            <a:ext cx="201168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444752"/>
            <a:ext cx="2011680" cy="64008"/>
          </a:xfrm>
          <a:prstGeom prst="rect">
            <a:avLst/>
          </a:prstGeom>
          <a:solidFill>
            <a:srgbClr val="21A67A"/>
          </a:solidFill>
          <a:ln/>
        </p:spPr>
      </p:sp>
      <p:sp>
        <p:nvSpPr>
          <p:cNvPr id="17" name="Text 15"/>
          <p:cNvSpPr/>
          <p:nvPr/>
        </p:nvSpPr>
        <p:spPr>
          <a:xfrm>
            <a:off x="4736592" y="158191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💼 Placement Rate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36592" y="206654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Placed / eligible 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03136" y="1444752"/>
            <a:ext cx="201168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1444752"/>
            <a:ext cx="201168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6912864" y="158191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📅 Avg Attendance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12864" y="206654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Mean attendance 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487168"/>
            <a:ext cx="201168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487168"/>
            <a:ext cx="201168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2624328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💰 Avg Package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84048" y="310896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₹ placed students (Lakhs)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50592" y="2487168"/>
            <a:ext cx="201168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450592" y="2487168"/>
            <a:ext cx="2011680" cy="64008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9" name="Text 27"/>
          <p:cNvSpPr/>
          <p:nvPr/>
        </p:nvSpPr>
        <p:spPr>
          <a:xfrm>
            <a:off x="2560320" y="2624328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⚠️ Students at Risk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2560320" y="310896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Attendance &lt; 75%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26864" y="2487168"/>
            <a:ext cx="201168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26864" y="2487168"/>
            <a:ext cx="201168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3" name="Text 31"/>
          <p:cNvSpPr/>
          <p:nvPr/>
        </p:nvSpPr>
        <p:spPr>
          <a:xfrm>
            <a:off x="4736592" y="2624328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🏫 Classroom Fill %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736592" y="310896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Slot utilisation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03136" y="2487168"/>
            <a:ext cx="201168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803136" y="2487168"/>
            <a:ext cx="2011680" cy="64008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37" name="Text 35"/>
          <p:cNvSpPr/>
          <p:nvPr/>
        </p:nvSpPr>
        <p:spPr>
          <a:xfrm>
            <a:off x="6912864" y="2624328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📦 Active Batches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912864" y="310896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Total running batches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3547872"/>
            <a:ext cx="8595360" cy="34747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0" name="Text 38"/>
          <p:cNvSpPr/>
          <p:nvPr/>
        </p:nvSpPr>
        <p:spPr>
          <a:xfrm>
            <a:off x="411480" y="35478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📌  Strategic Insight Cards (auto-generated by data)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74320" y="3950208"/>
            <a:ext cx="2788920" cy="457200"/>
          </a:xfrm>
          <a:prstGeom prst="rect">
            <a:avLst/>
          </a:prstGeom>
          <a:solidFill>
            <a:srgbClr val="2F80ED">
              <a:alpha val="1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274320" y="3950208"/>
            <a:ext cx="64008" cy="457200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43" name="Text 41"/>
          <p:cNvSpPr/>
          <p:nvPr/>
        </p:nvSpPr>
        <p:spPr>
          <a:xfrm>
            <a:off x="411480" y="3950208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</a:rPr>
              <a:t>📚  Top course: largest-enrolled flagship program auto-detected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182112" y="3950208"/>
            <a:ext cx="2788920" cy="457200"/>
          </a:xfrm>
          <a:prstGeom prst="rect">
            <a:avLst/>
          </a:prstGeom>
          <a:solidFill>
            <a:srgbClr val="D64545">
              <a:alpha val="12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3182112" y="3950208"/>
            <a:ext cx="64008" cy="45720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46" name="Text 44"/>
          <p:cNvSpPr/>
          <p:nvPr/>
        </p:nvSpPr>
        <p:spPr>
          <a:xfrm>
            <a:off x="3319272" y="3950208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</a:rPr>
              <a:t>⚠️  Weakest attendance course flagged for intervention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089904" y="3950208"/>
            <a:ext cx="2788920" cy="457200"/>
          </a:xfrm>
          <a:prstGeom prst="rect">
            <a:avLst/>
          </a:prstGeom>
          <a:solidFill>
            <a:srgbClr val="21A67A">
              <a:alpha val="1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089904" y="3950208"/>
            <a:ext cx="64008" cy="457200"/>
          </a:xfrm>
          <a:prstGeom prst="rect">
            <a:avLst/>
          </a:prstGeom>
          <a:solidFill>
            <a:srgbClr val="21A67A"/>
          </a:solidFill>
          <a:ln/>
        </p:spPr>
      </p:sp>
      <p:sp>
        <p:nvSpPr>
          <p:cNvPr id="49" name="Text 47"/>
          <p:cNvSpPr/>
          <p:nvPr/>
        </p:nvSpPr>
        <p:spPr>
          <a:xfrm>
            <a:off x="6227064" y="3950208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</a:rPr>
              <a:t>📍  Strongest enquiry location auto-identified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74320" y="4498848"/>
            <a:ext cx="2788920" cy="457200"/>
          </a:xfrm>
          <a:prstGeom prst="rect">
            <a:avLst/>
          </a:prstGeom>
          <a:solidFill>
            <a:srgbClr val="F5A623">
              <a:alpha val="12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274320" y="4498848"/>
            <a:ext cx="64008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2" name="Text 50"/>
          <p:cNvSpPr/>
          <p:nvPr/>
        </p:nvSpPr>
        <p:spPr>
          <a:xfrm>
            <a:off x="411480" y="4498848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</a:rPr>
              <a:t>🏆  Best counsellor conversion % surfaced automatically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182112" y="4498848"/>
            <a:ext cx="2788920" cy="457200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3182112" y="4498848"/>
            <a:ext cx="64008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5" name="Text 53"/>
          <p:cNvSpPr/>
          <p:nvPr/>
        </p:nvSpPr>
        <p:spPr>
          <a:xfrm>
            <a:off x="3319272" y="4498848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</a:rPr>
              <a:t>💼  In-progress placement pipeline % displayed as warning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Overview — Four Deep-Dive Analytical Sections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955280" y="0"/>
            <a:ext cx="1188720" cy="960120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25196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4251960" cy="457200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§ B  Admissions Funnel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84048" y="157276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80ED"/>
                </a:solidFill>
              </a:rPr>
              <a:t>Lead → Enrolled → Placed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1810512"/>
            <a:ext cx="400507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475467"/>
                </a:solidFill>
              </a:rPr>
              <a:t>Funnel: Enquiries → Admitted → Enrolled → Placed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475467"/>
                </a:solidFill>
              </a:rPr>
              <a:t>Counsellor Conversion Bar Chart (overlay)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475467"/>
                </a:solidFill>
              </a:rPr>
              <a:t>Location Demand — Enquiries vs Admitted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425196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97280"/>
            <a:ext cx="4251960" cy="45720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3" name="Text 11"/>
          <p:cNvSpPr/>
          <p:nvPr/>
        </p:nvSpPr>
        <p:spPr>
          <a:xfrm>
            <a:off x="4818888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§ C  Attendance &amp; Risk Analysis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18888" y="157276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4545"/>
                </a:solidFill>
              </a:rPr>
              <a:t>Engagement &amp; retention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18888" y="1810512"/>
            <a:ext cx="400507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475467"/>
                </a:solidFill>
              </a:rPr>
              <a:t>Risk Band Distribution (Critical / Watch / Healthy / Excellent)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475467"/>
                </a:solidFill>
              </a:rPr>
              <a:t>Avg Attendance % by Course (red if &lt;75%)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475467"/>
                </a:solidFill>
              </a:rPr>
              <a:t>Daily Attendance Trend Heatmap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090672"/>
            <a:ext cx="425196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090672"/>
            <a:ext cx="4251960" cy="457200"/>
          </a:xfrm>
          <a:prstGeom prst="rect">
            <a:avLst/>
          </a:prstGeom>
          <a:solidFill>
            <a:srgbClr val="21A67A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3090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§ D  Placement Performance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84048" y="35661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A67A"/>
                </a:solidFill>
              </a:rPr>
              <a:t>Outcomes &amp; officer effectiveness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4048" y="3803904"/>
            <a:ext cx="400507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475467"/>
                </a:solidFill>
              </a:rPr>
              <a:t>Placement Rate by Course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475467"/>
                </a:solidFill>
              </a:rPr>
              <a:t>Package Distribution (Box Plot)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475467"/>
                </a:solidFill>
              </a:rPr>
              <a:t>Attendance vs Package Scatter + Trend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475467"/>
                </a:solidFill>
              </a:rPr>
              <a:t>Placement Officer Effectiveness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3090672"/>
            <a:ext cx="425196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090672"/>
            <a:ext cx="4251960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4818888" y="3090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§ E / F  Business &amp; Staff Metrics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818888" y="35661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</a:rPr>
              <a:t>Capacity &amp; revenue-readiness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18888" y="3803904"/>
            <a:ext cx="400507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475467"/>
                </a:solidFill>
              </a:rPr>
              <a:t>Course Demand &amp; Admission Conversion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475467"/>
                </a:solidFill>
              </a:rPr>
              <a:t>Placement Package Pool by Course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475467"/>
                </a:solidFill>
              </a:rPr>
              <a:t>Internship Mix (Donut) + Admission Channel (Stack Bar)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475467"/>
                </a:solidFill>
              </a:rPr>
              <a:t>Teaching Staff Workload vs Capacity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475467"/>
                </a:solidFill>
              </a:rPr>
              <a:t>Trainer Schedule Slot Utilisation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4892040"/>
            <a:ext cx="8595360" cy="164592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4892040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</a:rPr>
              <a:t>§ G  Course Health Scorecard — composite score = Attendance×0.35 + Placement×0.35 + Conversion×0.20 + Enrollment×0.10  →  Priority recommendations table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👩‍🎓  Students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955280" y="0"/>
            <a:ext cx="1188720" cy="960120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03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2011680" cy="64008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21615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👥 Total Students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84048" y="170078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Full roster count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1078992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078992"/>
            <a:ext cx="2011680" cy="64008"/>
          </a:xfrm>
          <a:prstGeom prst="rect">
            <a:avLst/>
          </a:prstGeom>
          <a:solidFill>
            <a:srgbClr val="21A67A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21615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🎯 Internship Rate 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170078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Students with internships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078992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1078992"/>
            <a:ext cx="2011680" cy="64008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16" name="Text 14"/>
          <p:cNvSpPr/>
          <p:nvPr/>
        </p:nvSpPr>
        <p:spPr>
          <a:xfrm>
            <a:off x="4736592" y="121615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💻 Online Enrollment 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36592" y="170078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Online vs offline split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03136" y="1078992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03136" y="1078992"/>
            <a:ext cx="201168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6912864" y="121615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🎂 Average Age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12864" y="170078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Mean student age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2103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085"/>
                </a:solidFill>
              </a:rPr>
              <a:t>Sidebar Filters: Course · Mode (Online/Offline) · Education Level  — live-updates all visuals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468880"/>
            <a:ext cx="2788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468880"/>
            <a:ext cx="82296" cy="1234440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56032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Students by Course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285292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</a:rPr>
              <a:t>Horizontal bar — each course with student count, colored by course name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82112" y="2468880"/>
            <a:ext cx="2788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82112" y="2468880"/>
            <a:ext cx="82296" cy="1234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3364992" y="256032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Education Level Distribution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364992" y="285292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</a:rPr>
              <a:t>Donut chart (hole=0.55) showing UG/PG/Diploma/Other % split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89904" y="2468880"/>
            <a:ext cx="2788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9904" y="2468880"/>
            <a:ext cx="82296" cy="1234440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33" name="Text 31"/>
          <p:cNvSpPr/>
          <p:nvPr/>
        </p:nvSpPr>
        <p:spPr>
          <a:xfrm>
            <a:off x="6272784" y="256032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Online vs Offline Enrollment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272784" y="285292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</a:rPr>
              <a:t>Grouped bar: Online in blue, Offline in green, count labels above bars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794760"/>
            <a:ext cx="2788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794760"/>
            <a:ext cx="82296" cy="1234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388620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Age Distribution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417880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</a:rPr>
              <a:t>Histogram (15 bins) showing student age spread across cohort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182112" y="3794760"/>
            <a:ext cx="2788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182112" y="3794760"/>
            <a:ext cx="82296" cy="1234440"/>
          </a:xfrm>
          <a:prstGeom prst="rect">
            <a:avLst/>
          </a:prstGeom>
          <a:solidFill>
            <a:srgbClr val="21A67A"/>
          </a:solidFill>
          <a:ln/>
        </p:spPr>
      </p:sp>
      <p:sp>
        <p:nvSpPr>
          <p:cNvPr id="41" name="Text 39"/>
          <p:cNvSpPr/>
          <p:nvPr/>
        </p:nvSpPr>
        <p:spPr>
          <a:xfrm>
            <a:off x="3364992" y="388620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Enrollment Trend Over Time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3364992" y="417880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</a:rPr>
              <a:t>Area chart — monthly enrollment count with fill, line &amp; markers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89904" y="3794760"/>
            <a:ext cx="2788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089904" y="3794760"/>
            <a:ext cx="82296" cy="123444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45" name="Text 43"/>
          <p:cNvSpPr/>
          <p:nvPr/>
        </p:nvSpPr>
        <p:spPr>
          <a:xfrm>
            <a:off x="6272784" y="388620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Course Duration Preference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272784" y="417880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</a:rPr>
              <a:t>Donut chart — % of students per duration (3-month / 6-month / 1-year)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Admissions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955280" y="0"/>
            <a:ext cx="1188720" cy="9601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04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2011680" cy="64008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21615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📥 Total Inquiries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84048" y="170078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All enquiry records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1078992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078992"/>
            <a:ext cx="2011680" cy="64008"/>
          </a:xfrm>
          <a:prstGeom prst="rect">
            <a:avLst/>
          </a:prstGeom>
          <a:solidFill>
            <a:srgbClr val="21A67A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21615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✅ Admission Rate 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170078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Admitted / total inquiries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078992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1078992"/>
            <a:ext cx="2011680" cy="64008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6" name="Text 14"/>
          <p:cNvSpPr/>
          <p:nvPr/>
        </p:nvSpPr>
        <p:spPr>
          <a:xfrm>
            <a:off x="4736592" y="121615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❌ Not Admitted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36592" y="170078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Count of rejections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03136" y="1078992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03136" y="1078992"/>
            <a:ext cx="2011680" cy="64008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20" name="Text 18"/>
          <p:cNvSpPr/>
          <p:nvPr/>
        </p:nvSpPr>
        <p:spPr>
          <a:xfrm>
            <a:off x="6912864" y="121615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📍 Unique Locations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12864" y="170078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Geographic reach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2103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085"/>
                </a:solidFill>
              </a:rPr>
              <a:t>Sidebar Filters: Course · Mode (Online/Offline/Walk-in) · Location  — all charts update dynamically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468880"/>
            <a:ext cx="2788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468880"/>
            <a:ext cx="82296" cy="1234440"/>
          </a:xfrm>
          <a:prstGeom prst="rect">
            <a:avLst/>
          </a:prstGeom>
          <a:solidFill>
            <a:srgbClr val="21A67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56032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Admission Inquiries Over Time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285292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</a:rPr>
              <a:t>Line chart with markers — monthly inquiry volume trend, green palette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82112" y="2468880"/>
            <a:ext cx="2788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82112" y="2468880"/>
            <a:ext cx="82296" cy="123444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9" name="Text 27"/>
          <p:cNvSpPr/>
          <p:nvPr/>
        </p:nvSpPr>
        <p:spPr>
          <a:xfrm>
            <a:off x="3364992" y="256032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Admission Status Split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364992" y="285292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</a:rPr>
              <a:t>Donut (hole=0.55) — Admitted (green) vs Not Admitted (red), % + label outside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89904" y="2468880"/>
            <a:ext cx="2788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9904" y="2468880"/>
            <a:ext cx="82296" cy="1234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3" name="Text 31"/>
          <p:cNvSpPr/>
          <p:nvPr/>
        </p:nvSpPr>
        <p:spPr>
          <a:xfrm>
            <a:off x="6272784" y="256032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Inquiries by Location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272784" y="285292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</a:rPr>
              <a:t>Bar chart — each location with count label above, colored by location (pastel palette)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794760"/>
            <a:ext cx="2788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794760"/>
            <a:ext cx="82296" cy="1234440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388620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Admission Rate by Course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417880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</a:rPr>
              <a:t>Horizontal bar — sorted ascending, blue gradient color scale, % label outside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182112" y="3794760"/>
            <a:ext cx="2788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182112" y="3794760"/>
            <a:ext cx="82296" cy="1234440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41" name="Text 39"/>
          <p:cNvSpPr/>
          <p:nvPr/>
        </p:nvSpPr>
        <p:spPr>
          <a:xfrm>
            <a:off x="3364992" y="388620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Counsellor Performance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3364992" y="417880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</a:rPr>
              <a:t>Stacked bar — Admitted (green) + Not Admitted (red) per counsellor, count inside bars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89904" y="3794760"/>
            <a:ext cx="2788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089904" y="3794760"/>
            <a:ext cx="82296" cy="1234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5" name="Text 43"/>
          <p:cNvSpPr/>
          <p:nvPr/>
        </p:nvSpPr>
        <p:spPr>
          <a:xfrm>
            <a:off x="6272784" y="388620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Inquiry Leads by Qualification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272784" y="417880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</a:rPr>
              <a:t>Bar chart — UG / PG / Diploma breakdown with count labels above each bar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Attendance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955280" y="0"/>
            <a:ext cx="1188720" cy="96012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05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2011680" cy="64008"/>
          </a:xfrm>
          <a:prstGeom prst="rect">
            <a:avLst/>
          </a:prstGeom>
          <a:solidFill>
            <a:srgbClr val="21A67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21615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📊 Overall Att. 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84048" y="170078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Weighted attendance score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1078992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078992"/>
            <a:ext cx="2011680" cy="64008"/>
          </a:xfrm>
          <a:prstGeom prst="rect">
            <a:avLst/>
          </a:prstGeom>
          <a:solidFill>
            <a:srgbClr val="21A67A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21615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🟢 Excellent Students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170078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Attendance status = Excellent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078992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1078992"/>
            <a:ext cx="201168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4736592" y="121615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🟡 At Risk (Warning)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36592" y="170078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Warning status students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03136" y="1078992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03136" y="1078992"/>
            <a:ext cx="2011680" cy="64008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0" name="Text 18"/>
          <p:cNvSpPr/>
          <p:nvPr/>
        </p:nvSpPr>
        <p:spPr>
          <a:xfrm>
            <a:off x="6912864" y="121615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🔴 Critical Students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12864" y="170078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Critical attendance status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2103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085"/>
                </a:solidFill>
              </a:rPr>
              <a:t>Sidebar Filters: Course · Status (Excellent/Warning/Critical) · Batch ID — all charts refresh dynamically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468880"/>
            <a:ext cx="2788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468880"/>
            <a:ext cx="82296" cy="1234440"/>
          </a:xfrm>
          <a:prstGeom prst="rect">
            <a:avLst/>
          </a:prstGeom>
          <a:solidFill>
            <a:srgbClr val="21A67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56032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Status Distribution (Bar + Pie)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285292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</a:rPr>
              <a:t>Side-by-side subplot: bar count by status left, donut % split right. Colors: green/blue/orange/red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82112" y="2468880"/>
            <a:ext cx="2788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82112" y="2468880"/>
            <a:ext cx="82296" cy="1234440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29" name="Text 27"/>
          <p:cNvSpPr/>
          <p:nvPr/>
        </p:nvSpPr>
        <p:spPr>
          <a:xfrm>
            <a:off x="3364992" y="256032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Course × Attendance Status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364992" y="285292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</a:rPr>
              <a:t>Grouped bar — Excellent/Regular/Warning/Critical per course, category-ordered. x-axis rotated -30°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89904" y="2468880"/>
            <a:ext cx="2788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9904" y="2468880"/>
            <a:ext cx="82296" cy="1234440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33" name="Text 31"/>
          <p:cNvSpPr/>
          <p:nvPr/>
        </p:nvSpPr>
        <p:spPr>
          <a:xfrm>
            <a:off x="6272784" y="256032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Daily Attendance Trend (April)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272784" y="285292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</a:rPr>
              <a:t>Line + area fill — day of month on x-axis, daily % on y-axis, green→red colorscale markers, red dotted mean line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794760"/>
            <a:ext cx="2788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794760"/>
            <a:ext cx="82296" cy="1234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388620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Batch × Status Heatmap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417880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</a:rPr>
              <a:t>Heatmap — rows=batches, cols=status categories, RdYlGn colorscale, count text inside cells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182112" y="3794760"/>
            <a:ext cx="2788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182112" y="3794760"/>
            <a:ext cx="82296" cy="123444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41" name="Text 39"/>
          <p:cNvSpPr/>
          <p:nvPr/>
        </p:nvSpPr>
        <p:spPr>
          <a:xfrm>
            <a:off x="3364992" y="388620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Top 10 Most Absent Students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3364992" y="417880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</a:rPr>
              <a:t>Horizontal bar — sorted ascending by absent days, color = status category, hover shows course + batch + att %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89904" y="3794760"/>
            <a:ext cx="2788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089904" y="3794760"/>
            <a:ext cx="82296" cy="1234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5" name="Text 43"/>
          <p:cNvSpPr/>
          <p:nvPr/>
        </p:nvSpPr>
        <p:spPr>
          <a:xfrm>
            <a:off x="6272784" y="388620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Avg Present vs Absent by Course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272784" y="417880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</a:rPr>
              <a:t>Stacked bar — Present (green) + Absent (red) per course, average days shown, x-axis rotated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Courses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955280" y="0"/>
            <a:ext cx="1188720" cy="960120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06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2011680" cy="64008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21615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📚 Total Courses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84048" y="170078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Unique course count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1078992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078992"/>
            <a:ext cx="2011680" cy="64008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21615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📦 Total Batches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170078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All running batches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078992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1078992"/>
            <a:ext cx="2011680" cy="64008"/>
          </a:xfrm>
          <a:prstGeom prst="rect">
            <a:avLst/>
          </a:prstGeom>
          <a:solidFill>
            <a:srgbClr val="21A67A"/>
          </a:solidFill>
          <a:ln/>
        </p:spPr>
      </p:sp>
      <p:sp>
        <p:nvSpPr>
          <p:cNvPr id="16" name="Text 14"/>
          <p:cNvSpPr/>
          <p:nvPr/>
        </p:nvSpPr>
        <p:spPr>
          <a:xfrm>
            <a:off x="4736592" y="121615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👩‍🏫 Total Staff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36592" y="170078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Staff assigned to courses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03136" y="1078992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03136" y="1078992"/>
            <a:ext cx="201168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6912864" y="121615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⏱ Avg Teaching Hours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12864" y="170078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Mean hours per course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210312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085"/>
                </a:solidFill>
              </a:rPr>
              <a:t>Sidebar Filters: Department · Course · Staff Range (slider) · Batch Range (slider)  —  Top Course annotation auto-shows highest-batch course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468880"/>
            <a:ext cx="2788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468880"/>
            <a:ext cx="82296" cy="1234440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56032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Batch Distribution by Course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285292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</a:rPr>
              <a:t>Bar chart — total batches per course, teal colorscale, count outside bars, x-axis rotated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82112" y="2468880"/>
            <a:ext cx="2788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82112" y="2468880"/>
            <a:ext cx="82296" cy="1234440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29" name="Text 27"/>
          <p:cNvSpPr/>
          <p:nvPr/>
        </p:nvSpPr>
        <p:spPr>
          <a:xfrm>
            <a:off x="3364992" y="256032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Batch Share per Course (Donut)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364992" y="285292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</a:rPr>
              <a:t>Donut (hole=0.5) — % of total batches each course contributes, Set2 palette, labels outside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89904" y="2468880"/>
            <a:ext cx="2788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9904" y="2468880"/>
            <a:ext cx="82296" cy="1234440"/>
          </a:xfrm>
          <a:prstGeom prst="rect">
            <a:avLst/>
          </a:prstGeom>
          <a:solidFill>
            <a:srgbClr val="21A67A"/>
          </a:solidFill>
          <a:ln/>
        </p:spPr>
      </p:sp>
      <p:sp>
        <p:nvSpPr>
          <p:cNvPr id="33" name="Text 31"/>
          <p:cNvSpPr/>
          <p:nvPr/>
        </p:nvSpPr>
        <p:spPr>
          <a:xfrm>
            <a:off x="6272784" y="256032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Efficiency Ratio: Batches/Staff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272784" y="285292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</a:rPr>
              <a:t>Bar chart — batches per staff member, RdYlGn_r colorscale (lower=green=efficient), sorted descending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794760"/>
            <a:ext cx="2788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794760"/>
            <a:ext cx="82296" cy="1234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388620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Avg Teaching Hours per Course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417880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</a:rPr>
              <a:t>Horizontal bar — sorted ascending, Oranges colorscale, hours label outside, y-axis total ascending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182112" y="3794760"/>
            <a:ext cx="2788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182112" y="3794760"/>
            <a:ext cx="82296" cy="1234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3364992" y="388620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Treemap: Dept → Course → Batches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3364992" y="417880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</a:rPr>
              <a:t>Treemap — department → course hierarchy, values=total batches, color=avg_hours (RdYlGn_r), hover shows staff + hours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89904" y="3794760"/>
            <a:ext cx="2788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089904" y="3794760"/>
            <a:ext cx="82296" cy="1234440"/>
          </a:xfrm>
          <a:prstGeom prst="rect">
            <a:avLst/>
          </a:prstGeom>
          <a:solidFill>
            <a:srgbClr val="475467"/>
          </a:solidFill>
          <a:ln/>
        </p:spPr>
      </p:sp>
      <p:sp>
        <p:nvSpPr>
          <p:cNvPr id="45" name="Text 43"/>
          <p:cNvSpPr/>
          <p:nvPr/>
        </p:nvSpPr>
        <p:spPr>
          <a:xfrm>
            <a:off x="6272784" y="388620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Raw Data Table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272784" y="417880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</a:rPr>
              <a:t>Interactive dataframe with department, course, total_staff, total_batches, avg_hours, load_index columns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Staff Analysis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955280" y="0"/>
            <a:ext cx="1188720" cy="960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07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2011680" cy="64008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21615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👥 Total Staff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84048" y="170078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Filtered staff count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1078992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078992"/>
            <a:ext cx="2011680" cy="64008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21615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🎓 Teaching Staff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170078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Dept = Teaching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078992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1078992"/>
            <a:ext cx="201168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4736592" y="121615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🏢 Non-Teaching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36592" y="170078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Admin / support / others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03136" y="1078992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03136" y="1078992"/>
            <a:ext cx="201168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6912864" y="121615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⏱ Avg Hours/Day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12864" y="170078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Mean daily teaching hours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210312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085"/>
                </a:solidFill>
              </a:rPr>
              <a:t>Sidebar Filters: Department · Hours per Day (slider) · Batches Handling  —  5-tab layout with deep drill-down per tab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468880"/>
            <a:ext cx="2788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468880"/>
            <a:ext cx="2788920" cy="384048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24688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Tab 1 — Staff Composition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84048" y="2889504"/>
            <a:ext cx="26060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475467"/>
                </a:solidFill>
              </a:rPr>
              <a:t>Teaching vs Non-Teaching pie chart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475467"/>
                </a:solidFill>
              </a:rPr>
              <a:t>Staff count by department bar chart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475467"/>
                </a:solidFill>
              </a:rPr>
              <a:t>Staff directory dataframe with role/course/hours/batches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82112" y="2468880"/>
            <a:ext cx="2788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82112" y="2468880"/>
            <a:ext cx="2788920" cy="384048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29" name="Text 27"/>
          <p:cNvSpPr/>
          <p:nvPr/>
        </p:nvSpPr>
        <p:spPr>
          <a:xfrm>
            <a:off x="3291840" y="24688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Tab 2 — Workload Analysis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291840" y="2889504"/>
            <a:ext cx="26060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475467"/>
                </a:solidFill>
              </a:rPr>
              <a:t>Staff workload ranking by hours/day (bar)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475467"/>
                </a:solidFill>
              </a:rPr>
              <a:t>Hours distribution histogram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475467"/>
                </a:solidFill>
              </a:rPr>
              <a:t>Hours stats by department table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475467"/>
                </a:solidFill>
              </a:rPr>
              <a:t>Teaching staff workload vs avg line (bar + hline)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89904" y="2468880"/>
            <a:ext cx="2788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9904" y="2468880"/>
            <a:ext cx="2788920" cy="384048"/>
          </a:xfrm>
          <a:prstGeom prst="rect">
            <a:avLst/>
          </a:prstGeom>
          <a:solidFill>
            <a:srgbClr val="21A67A"/>
          </a:solidFill>
          <a:ln/>
        </p:spPr>
      </p:sp>
      <p:sp>
        <p:nvSpPr>
          <p:cNvPr id="33" name="Text 31"/>
          <p:cNvSpPr/>
          <p:nvPr/>
        </p:nvSpPr>
        <p:spPr>
          <a:xfrm>
            <a:off x="6199632" y="24688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Tab 3 — Batch Handling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199632" y="2889504"/>
            <a:ext cx="26060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475467"/>
                </a:solidFill>
              </a:rPr>
              <a:t>Batch allocation per trainer (bar)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475467"/>
                </a:solidFill>
              </a:rPr>
              <a:t>Batch count distribution (pie)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475467"/>
                </a:solidFill>
              </a:rPr>
              <a:t>Batch vs Hours scatter plot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475467"/>
                </a:solidFill>
              </a:rPr>
              <a:t>Workload vs Batch box plot by group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977640"/>
            <a:ext cx="2788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977640"/>
            <a:ext cx="2788920" cy="3840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7" name="Text 35"/>
          <p:cNvSpPr/>
          <p:nvPr/>
        </p:nvSpPr>
        <p:spPr>
          <a:xfrm>
            <a:off x="384048" y="39776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Tab 4 — Course Dependency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84048" y="4398264"/>
            <a:ext cx="26060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475467"/>
                </a:solidFill>
              </a:rPr>
              <a:t>Trainers per course bar chart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475467"/>
                </a:solidFill>
              </a:rPr>
              <a:t>Course-wise workload heatmap (trainers × courses)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475467"/>
                </a:solidFill>
              </a:rPr>
              <a:t>Hours per day by course box plot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182112" y="3977640"/>
            <a:ext cx="2788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182112" y="3977640"/>
            <a:ext cx="2788920" cy="384048"/>
          </a:xfrm>
          <a:prstGeom prst="rect">
            <a:avLst/>
          </a:prstGeom>
          <a:solidFill>
            <a:srgbClr val="475467"/>
          </a:solidFill>
          <a:ln/>
        </p:spPr>
      </p:sp>
      <p:sp>
        <p:nvSpPr>
          <p:cNvPr id="41" name="Text 39"/>
          <p:cNvSpPr/>
          <p:nvPr/>
        </p:nvSpPr>
        <p:spPr>
          <a:xfrm>
            <a:off x="3291840" y="39776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Tab 5 — Raw Data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3291840" y="4398264"/>
            <a:ext cx="26060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475467"/>
                </a:solidFill>
              </a:rPr>
              <a:t>Full filtered dataframe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475467"/>
                </a:solidFill>
              </a:rPr>
              <a:t>All staff fields: name, dept, role, course, batches, hours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  Staff Schedule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955280" y="0"/>
            <a:ext cx="1188720" cy="960120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08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085"/>
                </a:solidFill>
              </a:rPr>
              <a:t>Analyses trainer availability, daily/weekly hour load, slot assignments, and schedule utilisation across all time slots.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42062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63040"/>
            <a:ext cx="4206240" cy="64008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5819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⏱ Tab 1 — Daily Hours &amp; Free Periods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975104"/>
            <a:ext cx="393192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475467"/>
                </a:solidFill>
              </a:rPr>
              <a:t>Daily Hours per Trainer — bar chart sorted descending by daily_hours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475467"/>
                </a:solidFill>
              </a:rPr>
              <a:t>Free Periods per Trainer — bar chart (unoccupied slots count)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475467"/>
                </a:solidFill>
              </a:rPr>
              <a:t>Daily vs Weekly Hours Comparison — grouped bar: daily vs weekly load side-by-side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42062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463040"/>
            <a:ext cx="4206240" cy="64008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5819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📋 Tab 2 — Schedule Grid &amp; Heatmap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975104"/>
            <a:ext cx="393192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475467"/>
                </a:solidFill>
              </a:rPr>
              <a:t>Full Slot Assignment Grid — dataframe: rows=trainers, cols=time slots, values=assigned batch/course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475467"/>
                </a:solidFill>
              </a:rPr>
              <a:t>Slot Occupancy Heatmap — heatmap: trainers vs time slots (1=occupied, 0=free), RdYlGn colorscale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420624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4206240" cy="64008"/>
          </a:xfrm>
          <a:prstGeom prst="rect">
            <a:avLst/>
          </a:prstGeom>
          <a:solidFill>
            <a:srgbClr val="21A67A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3192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📚 Tab 3 — Course Hours Distribution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3712464"/>
            <a:ext cx="39319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475467"/>
                </a:solidFill>
              </a:rPr>
              <a:t>Daily Hours Allocated per Course — bar chart: hours assigned to each course per day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475467"/>
                </a:solidFill>
              </a:rPr>
              <a:t>Hours Share by Course — pie/donut with % of total training hours per course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475467"/>
                </a:solidFill>
              </a:rPr>
              <a:t>Trainers per Course — bar showing how many trainers handle each course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200400"/>
            <a:ext cx="420624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200400"/>
            <a:ext cx="420624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33192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🔥 Tab 4 — Utilisation Analysis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3712464"/>
            <a:ext cx="39319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475467"/>
                </a:solidFill>
              </a:rPr>
              <a:t>Trainer Utilisation % (of 7h/day max) — horizontal bar, green = utilised, red = overloaded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475467"/>
                </a:solidFill>
              </a:rPr>
              <a:t>Utilisation vs Free Periods Scatter — scatter plot: x=utilisation%, y=free periods; bubble=weekly hours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475467"/>
                </a:solidFill>
              </a:rPr>
              <a:t>At-a-glance: identifies both underutilised and overloaded trainers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Classroom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955280" y="0"/>
            <a:ext cx="1188720" cy="960120"/>
          </a:xfrm>
          <a:prstGeom prst="rect">
            <a:avLst/>
          </a:prstGeom>
          <a:solidFill>
            <a:srgbClr val="21A67A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09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085"/>
                </a:solidFill>
              </a:rPr>
              <a:t>Tracks slot-level occupancy, room utilisation %, batch assignments, and capacity pressure across all classrooms and time slots.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481328"/>
            <a:ext cx="278892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81328"/>
            <a:ext cx="2788920" cy="384048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48132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Tab 1 — Schedule View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4048" y="1901952"/>
            <a:ext cx="260604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8000"/>
              </a:lnSpc>
              <a:buSzPct val="100000"/>
              <a:buChar char="•"/>
            </a:pPr>
            <a:r>
              <a:rPr lang="en-US" sz="1000" dirty="0">
                <a:solidFill>
                  <a:srgbClr val="475467"/>
                </a:solidFill>
              </a:rPr>
              <a:t>Classroom × Time Slot Schedule matrix — rows=classrooms, cols=slots (10:00–12:00, 12:00–02:00, 02:30–04:30, 04:30–05:30)</a:t>
            </a:r>
            <a:endParaRPr lang="en-US" sz="1000" dirty="0"/>
          </a:p>
          <a:p>
            <a:pPr marL="342900" indent="-342900">
              <a:lnSpc>
                <a:spcPct val="138000"/>
              </a:lnSpc>
              <a:buSzPct val="100000"/>
              <a:buChar char="•"/>
            </a:pPr>
            <a:r>
              <a:rPr lang="en-US" sz="1000" dirty="0">
                <a:solidFill>
                  <a:srgbClr val="475467"/>
                </a:solidFill>
              </a:rPr>
              <a:t>Slot-wise Occupancy Summary — count of occupied slots per time slot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82112" y="1481328"/>
            <a:ext cx="278892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82112" y="1481328"/>
            <a:ext cx="2788920" cy="384048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48132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Tab 2 — Utilisation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91840" y="1901952"/>
            <a:ext cx="260604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8000"/>
              </a:lnSpc>
              <a:buSzPct val="100000"/>
              <a:buChar char="•"/>
            </a:pPr>
            <a:r>
              <a:rPr lang="en-US" sz="1000" dirty="0">
                <a:solidFill>
                  <a:srgbClr val="475467"/>
                </a:solidFill>
              </a:rPr>
              <a:t>Room Utilisation % — bar chart per classroom showing % of slots filled, colored by fill intensity</a:t>
            </a:r>
            <a:endParaRPr lang="en-US" sz="1000" dirty="0"/>
          </a:p>
          <a:p>
            <a:pPr marL="342900" indent="-342900">
              <a:lnSpc>
                <a:spcPct val="138000"/>
              </a:lnSpc>
              <a:buSzPct val="100000"/>
              <a:buChar char="•"/>
            </a:pPr>
            <a:r>
              <a:rPr lang="en-US" sz="1000" dirty="0">
                <a:solidFill>
                  <a:srgbClr val="475467"/>
                </a:solidFill>
              </a:rPr>
              <a:t>Occupancy Status Breakdown — bar chart showing free vs occupied breakdown</a:t>
            </a:r>
            <a:endParaRPr lang="en-US" sz="1000" dirty="0"/>
          </a:p>
          <a:p>
            <a:pPr marL="342900" indent="-342900">
              <a:lnSpc>
                <a:spcPct val="138000"/>
              </a:lnSpc>
              <a:buSzPct val="100000"/>
              <a:buChar char="•"/>
            </a:pPr>
            <a:r>
              <a:rPr lang="en-US" sz="1000" dirty="0">
                <a:solidFill>
                  <a:srgbClr val="475467"/>
                </a:solidFill>
              </a:rPr>
              <a:t>Filled Slots per Classroom — sorted bar ranking rooms by busyness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9904" y="1481328"/>
            <a:ext cx="278892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9904" y="1481328"/>
            <a:ext cx="2788920" cy="384048"/>
          </a:xfrm>
          <a:prstGeom prst="rect">
            <a:avLst/>
          </a:prstGeom>
          <a:solidFill>
            <a:srgbClr val="21A67A"/>
          </a:solidFill>
          <a:ln/>
        </p:spPr>
      </p:sp>
      <p:sp>
        <p:nvSpPr>
          <p:cNvPr id="17" name="Text 15"/>
          <p:cNvSpPr/>
          <p:nvPr/>
        </p:nvSpPr>
        <p:spPr>
          <a:xfrm>
            <a:off x="6199632" y="148132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Tab 3 — Batch Assignments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99632" y="1901952"/>
            <a:ext cx="260604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8000"/>
              </a:lnSpc>
              <a:buSzPct val="100000"/>
              <a:buChar char="•"/>
            </a:pPr>
            <a:r>
              <a:rPr lang="en-US" sz="1000" dirty="0">
                <a:solidFill>
                  <a:srgbClr val="475467"/>
                </a:solidFill>
              </a:rPr>
              <a:t>Batch → Classroom Mapping — table/chart showing which batch uses which room</a:t>
            </a:r>
            <a:endParaRPr lang="en-US" sz="1000" dirty="0"/>
          </a:p>
          <a:p>
            <a:pPr marL="342900" indent="-342900">
              <a:lnSpc>
                <a:spcPct val="138000"/>
              </a:lnSpc>
              <a:buSzPct val="100000"/>
              <a:buChar char="•"/>
            </a:pPr>
            <a:r>
              <a:rPr lang="en-US" sz="1000" dirty="0">
                <a:solidFill>
                  <a:srgbClr val="475467"/>
                </a:solidFill>
              </a:rPr>
              <a:t>Batches per Classroom — aggregated bar count</a:t>
            </a:r>
            <a:endParaRPr lang="en-US" sz="1000" dirty="0"/>
          </a:p>
          <a:p>
            <a:pPr marL="342900" indent="-342900">
              <a:lnSpc>
                <a:spcPct val="138000"/>
              </a:lnSpc>
              <a:buSzPct val="100000"/>
              <a:buChar char="•"/>
            </a:pPr>
            <a:r>
              <a:rPr lang="en-US" sz="1000" dirty="0">
                <a:solidFill>
                  <a:srgbClr val="475467"/>
                </a:solidFill>
              </a:rPr>
              <a:t>Batches per Time Slot — which slots have most batch activity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291840"/>
            <a:ext cx="2788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291840"/>
            <a:ext cx="2788920" cy="3840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32918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Tab 4 — Heatmaps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84048" y="3712464"/>
            <a:ext cx="26060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8000"/>
              </a:lnSpc>
              <a:buSzPct val="100000"/>
              <a:buChar char="•"/>
            </a:pPr>
            <a:r>
              <a:rPr lang="en-US" sz="1000" dirty="0">
                <a:solidFill>
                  <a:srgbClr val="475467"/>
                </a:solidFill>
              </a:rPr>
              <a:t>Slot Occupancy Heatmap — rows=classrooms, cols=time slots, 1=occupied/0=free, green colorscale</a:t>
            </a:r>
            <a:endParaRPr lang="en-US" sz="1000" dirty="0"/>
          </a:p>
          <a:p>
            <a:pPr marL="342900" indent="-342900">
              <a:lnSpc>
                <a:spcPct val="138000"/>
              </a:lnSpc>
              <a:buSzPct val="100000"/>
              <a:buChar char="•"/>
            </a:pPr>
            <a:r>
              <a:rPr lang="en-US" sz="1000" dirty="0">
                <a:solidFill>
                  <a:srgbClr val="475467"/>
                </a:solidFill>
              </a:rPr>
              <a:t>Slot Load Chart — how many rooms are occupied in each time slot (bar), shows peak-hour pressure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82112" y="3291840"/>
            <a:ext cx="2788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82112" y="3291840"/>
            <a:ext cx="2788920" cy="384048"/>
          </a:xfrm>
          <a:prstGeom prst="rect">
            <a:avLst/>
          </a:prstGeom>
          <a:solidFill>
            <a:srgbClr val="475467"/>
          </a:solidFill>
          <a:ln/>
        </p:spPr>
      </p:sp>
      <p:sp>
        <p:nvSpPr>
          <p:cNvPr id="25" name="Text 23"/>
          <p:cNvSpPr/>
          <p:nvPr/>
        </p:nvSpPr>
        <p:spPr>
          <a:xfrm>
            <a:off x="3291840" y="32918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Tab 5 — Raw Data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291840" y="3712464"/>
            <a:ext cx="26060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8000"/>
              </a:lnSpc>
              <a:buSzPct val="100000"/>
              <a:buChar char="•"/>
            </a:pPr>
            <a:r>
              <a:rPr lang="en-US" sz="1000" dirty="0">
                <a:solidFill>
                  <a:srgbClr val="475467"/>
                </a:solidFill>
              </a:rPr>
              <a:t>Full classroom dataset — room_id, capacity, all slot columns, Occupancy % column, filled_slots derived column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Placement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955280" y="0"/>
            <a:ext cx="1188720" cy="960120"/>
          </a:xfrm>
          <a:prstGeom prst="rect">
            <a:avLst/>
          </a:prstGeom>
          <a:solidFill>
            <a:srgbClr val="21A67A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10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2011680" cy="64008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21615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👥 Total Students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84048" y="170078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Placement records count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1078992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078992"/>
            <a:ext cx="2011680" cy="64008"/>
          </a:xfrm>
          <a:prstGeom prst="rect">
            <a:avLst/>
          </a:prstGeom>
          <a:solidFill>
            <a:srgbClr val="21A67A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21615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✅ Placement Rate 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170078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Placed / total × 100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078992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1078992"/>
            <a:ext cx="201168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4736592" y="121615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💰 Avg Package (L)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36592" y="170078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Mean salary in Rs. Lakhs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03136" y="1078992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03136" y="1078992"/>
            <a:ext cx="2011680" cy="64008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0" name="Text 18"/>
          <p:cNvSpPr/>
          <p:nvPr/>
        </p:nvSpPr>
        <p:spPr>
          <a:xfrm>
            <a:off x="6912864" y="121615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⏳ Not Placed Count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12864" y="170078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Pending/unsuccessful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210312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085"/>
                </a:solidFill>
              </a:rPr>
              <a:t>Sidebar Filters: Course · Status (Placed/Not Placed/In Progress) · Company · Package Range (slider)  —  Top Recruiter annotation auto-identifies highest-hiring company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6032" y="2487168"/>
            <a:ext cx="2057400" cy="12435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487168"/>
            <a:ext cx="73152" cy="1243584"/>
          </a:xfrm>
          <a:prstGeom prst="rect">
            <a:avLst/>
          </a:prstGeom>
          <a:solidFill>
            <a:srgbClr val="21A67A"/>
          </a:solidFill>
          <a:ln/>
        </p:spPr>
      </p:sp>
      <p:sp>
        <p:nvSpPr>
          <p:cNvPr id="25" name="Text 23"/>
          <p:cNvSpPr/>
          <p:nvPr/>
        </p:nvSpPr>
        <p:spPr>
          <a:xfrm>
            <a:off x="402336" y="2560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Avg Package by Course (Area)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02336" y="2871216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Area chart with markers — x=course, y=avg package (Rs.L), x-axis rotated -40°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432304" y="2487168"/>
            <a:ext cx="2057400" cy="12435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432304" y="2487168"/>
            <a:ext cx="73152" cy="1243584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29" name="Text 27"/>
          <p:cNvSpPr/>
          <p:nvPr/>
        </p:nvSpPr>
        <p:spPr>
          <a:xfrm>
            <a:off x="2578608" y="2560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Course → Status Treemap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578608" y="2871216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Treemap: All → course → status, color by status (green=Placed, orange=In Progress, red=Not Placed), % root shown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08576" y="2487168"/>
            <a:ext cx="2057400" cy="12435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08576" y="2487168"/>
            <a:ext cx="73152" cy="1243584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2560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Course → Company → Role Sunburst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54880" y="2871216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3-level sunburst for placed students, radial text orientation, per-parent % shown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784848" y="2487168"/>
            <a:ext cx="2057400" cy="12435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784848" y="2487168"/>
            <a:ext cx="73152" cy="124358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7" name="Text 35"/>
          <p:cNvSpPr/>
          <p:nvPr/>
        </p:nvSpPr>
        <p:spPr>
          <a:xfrm>
            <a:off x="6931152" y="2560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Avg Package by Course (Bar)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931152" y="2871216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Bar chart with ₹X.XL labels outside, teal colorscale, hover shows min/max/count placed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56032" y="3822192"/>
            <a:ext cx="2057400" cy="12435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56032" y="3822192"/>
            <a:ext cx="73152" cy="124358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402336" y="38953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Placement Rate by Course (%)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02336" y="4206240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Grouped bar — Placed/Not Placed/In Progress % side-by-side per course, text % outside bars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432304" y="3822192"/>
            <a:ext cx="2057400" cy="12435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432304" y="3822192"/>
            <a:ext cx="73152" cy="124358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5" name="Text 43"/>
          <p:cNvSpPr/>
          <p:nvPr/>
        </p:nvSpPr>
        <p:spPr>
          <a:xfrm>
            <a:off x="2578608" y="38953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Company Hiring Count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578608" y="4206240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Horizontal bar — companies sorted by hired count, Blues colorscale, count outside bars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08576" y="3822192"/>
            <a:ext cx="2057400" cy="12435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08576" y="3822192"/>
            <a:ext cx="73152" cy="1243584"/>
          </a:xfrm>
          <a:prstGeom prst="rect">
            <a:avLst/>
          </a:prstGeom>
          <a:solidFill>
            <a:srgbClr val="21A67A"/>
          </a:solidFill>
          <a:ln/>
        </p:spPr>
      </p:sp>
      <p:sp>
        <p:nvSpPr>
          <p:cNvPr id="49" name="Text 47"/>
          <p:cNvSpPr/>
          <p:nvPr/>
        </p:nvSpPr>
        <p:spPr>
          <a:xfrm>
            <a:off x="4754880" y="38953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Overall Outcome Donut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754880" y="4206240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Donut (hole=0.55) — total students annotation in centre, pulled slice for Placed category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784848" y="3822192"/>
            <a:ext cx="2057400" cy="12435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784848" y="3822192"/>
            <a:ext cx="73152" cy="1243584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53" name="Text 51"/>
          <p:cNvSpPr/>
          <p:nvPr/>
        </p:nvSpPr>
        <p:spPr>
          <a:xfrm>
            <a:off x="6931152" y="38953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Company: Hiring vs Avg Package Scatter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931152" y="4206240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Bubble scatter — x=total hired, y=avg package, size=max_package, OLS trendline, company labels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Data Architecture &amp; Tech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955280" y="0"/>
            <a:ext cx="1188720" cy="960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0233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4023360" cy="42062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" y="109728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📁  8 CSV Data Sources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0624" y="1609344"/>
            <a:ext cx="3657600" cy="2286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60934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</a:rPr>
              <a:t>📄 students.csv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0624" y="1874520"/>
            <a:ext cx="36576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18745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</a:rPr>
              <a:t>📄 admission.csv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0624" y="2139696"/>
            <a:ext cx="3657600" cy="2286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213969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</a:rPr>
              <a:t>📄 attendance_current_month.csv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0624" y="2404872"/>
            <a:ext cx="36576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24048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</a:rPr>
              <a:t>📄 placement.csv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0624" y="2670048"/>
            <a:ext cx="3657600" cy="2286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26700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</a:rPr>
              <a:t>📄 staff_dataset.csv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0624" y="2935224"/>
            <a:ext cx="36576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" y="293522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</a:rPr>
              <a:t>📄 staff_schedule_with_weekly.csv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0624" y="3200400"/>
            <a:ext cx="3657600" cy="2286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32004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</a:rPr>
              <a:t>📄 course_dataset.csv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0624" y="3465576"/>
            <a:ext cx="36576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" y="346557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</a:rPr>
              <a:t>📄 classroom.csv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0" y="1097280"/>
            <a:ext cx="42519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1097280"/>
            <a:ext cx="4251960" cy="420624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27" name="Text 25"/>
          <p:cNvSpPr/>
          <p:nvPr/>
        </p:nvSpPr>
        <p:spPr>
          <a:xfrm>
            <a:off x="4700016" y="10972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  Technology Stack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81728" y="15910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🐍 Python 3.x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15910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</a:rPr>
              <a:t>Core language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81728" y="18562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📊 Streamlit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18562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</a:rPr>
              <a:t>Multi-page web framework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81728" y="21214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🐼 Pandas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212140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</a:rPr>
              <a:t>Data loading, cleaning, aggregation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81728" y="23865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📈 Plotly / Plotly Express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83680" y="238658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</a:rPr>
              <a:t>Interactive charts (30+ types)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81728" y="26517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📐 NumPy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83680" y="26517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</a:rPr>
              <a:t>Numerical computations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0" y="3063240"/>
            <a:ext cx="42519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0" y="3063240"/>
            <a:ext cx="4251960" cy="420624"/>
          </a:xfrm>
          <a:prstGeom prst="rect">
            <a:avLst/>
          </a:prstGeom>
          <a:solidFill>
            <a:srgbClr val="21A67A"/>
          </a:solidFill>
          <a:ln/>
        </p:spPr>
      </p:sp>
      <p:sp>
        <p:nvSpPr>
          <p:cNvPr id="40" name="Text 38"/>
          <p:cNvSpPr/>
          <p:nvPr/>
        </p:nvSpPr>
        <p:spPr>
          <a:xfrm>
            <a:off x="4700016" y="306324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🔄  Data Flow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681728" y="3538728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</a:rPr>
              <a:t>1. data/ folder  →  Pandas read_csv()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681728" y="3776472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</a:rPr>
              <a:t>2. Type coercion  →  datetime, numeric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681728" y="4014216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</a:rPr>
              <a:t>3. Sidebar filters  →  filtered DataFrames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681728" y="4251960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</a:rPr>
              <a:t>4. Plotly figures  →  st.plotly_chart()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681728" y="4489704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</a:rPr>
              <a:t>5. Runs on: streamlit run app.py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74320" y="3950208"/>
            <a:ext cx="4023360" cy="98755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7" name="Text 45"/>
          <p:cNvSpPr/>
          <p:nvPr/>
        </p:nvSpPr>
        <p:spPr>
          <a:xfrm>
            <a:off x="402336" y="39776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6A6"/>
                </a:solidFill>
              </a:rPr>
              <a:t>🚀  Deployment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02336" y="427939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4CC"/>
                </a:solidFill>
              </a:rPr>
              <a:t>streamlit run app.py  →  localhost:8501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0B4CC"/>
                </a:solidFill>
              </a:rPr>
              <a:t>Pages auto-discovered from /pages/ folder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0B4CC"/>
                </a:solidFill>
              </a:rPr>
              <a:t>One-click deploy to Streamlit Community Cloud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200400"/>
            <a:ext cx="4572000" cy="4572000"/>
          </a:xfrm>
          <a:prstGeom prst="ellipse">
            <a:avLst/>
          </a:prstGeom>
          <a:solidFill>
            <a:srgbClr val="00A6A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645920"/>
            <a:ext cx="4114800" cy="4114800"/>
          </a:xfrm>
          <a:prstGeom prst="ellipse">
            <a:avLst/>
          </a:prstGeom>
          <a:solidFill>
            <a:srgbClr val="2F80ED">
              <a:alpha val="13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3474720"/>
            <a:ext cx="2743200" cy="27432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8BDF8"/>
                </a:solidFill>
              </a:rPr>
              <a:t>Cyber Square Institute Performance Dashboard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5486400" cy="41148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B4CC"/>
                </a:solidFill>
              </a:rPr>
              <a:t>Python  ·  Streamlit  ·  Pandas  ·  Plotly  ·  9 Pages  ·  8 CSV Sources  ·  40+ Charts  ·  AI Insights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1481328" cy="347472"/>
          </a:xfrm>
          <a:prstGeom prst="roundRect">
            <a:avLst>
              <a:gd name="adj" fmla="val 13158"/>
            </a:avLst>
          </a:prstGeom>
          <a:solidFill>
            <a:srgbClr val="00A6A6">
              <a:alpha val="5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Overview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40280" y="3246120"/>
            <a:ext cx="1481328" cy="347472"/>
          </a:xfrm>
          <a:prstGeom prst="roundRect">
            <a:avLst>
              <a:gd name="adj" fmla="val 13158"/>
            </a:avLst>
          </a:prstGeom>
          <a:solidFill>
            <a:srgbClr val="00A6A6">
              <a:alpha val="5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240280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Students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0" y="3246120"/>
            <a:ext cx="1481328" cy="347472"/>
          </a:xfrm>
          <a:prstGeom prst="roundRect">
            <a:avLst>
              <a:gd name="adj" fmla="val 13158"/>
            </a:avLst>
          </a:prstGeom>
          <a:solidFill>
            <a:srgbClr val="00A6A6">
              <a:alpha val="5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Admissions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40680" y="3246120"/>
            <a:ext cx="1481328" cy="347472"/>
          </a:xfrm>
          <a:prstGeom prst="roundRect">
            <a:avLst>
              <a:gd name="adj" fmla="val 13158"/>
            </a:avLst>
          </a:prstGeom>
          <a:solidFill>
            <a:srgbClr val="00A6A6">
              <a:alpha val="5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40680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40880" y="3246120"/>
            <a:ext cx="1481328" cy="347472"/>
          </a:xfrm>
          <a:prstGeom prst="roundRect">
            <a:avLst>
              <a:gd name="adj" fmla="val 13158"/>
            </a:avLst>
          </a:prstGeom>
          <a:solidFill>
            <a:srgbClr val="00A6A6">
              <a:alpha val="5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Courses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721608"/>
            <a:ext cx="1481328" cy="347472"/>
          </a:xfrm>
          <a:prstGeom prst="roundRect">
            <a:avLst>
              <a:gd name="adj" fmla="val 13158"/>
            </a:avLst>
          </a:prstGeom>
          <a:solidFill>
            <a:srgbClr val="00A6A6">
              <a:alpha val="5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2160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Staff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40280" y="3721608"/>
            <a:ext cx="1481328" cy="347472"/>
          </a:xfrm>
          <a:prstGeom prst="roundRect">
            <a:avLst>
              <a:gd name="adj" fmla="val 13158"/>
            </a:avLst>
          </a:prstGeom>
          <a:solidFill>
            <a:srgbClr val="00A6A6">
              <a:alpha val="5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240280" y="372160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Scheduling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0480" y="3721608"/>
            <a:ext cx="1481328" cy="347472"/>
          </a:xfrm>
          <a:prstGeom prst="roundRect">
            <a:avLst>
              <a:gd name="adj" fmla="val 13158"/>
            </a:avLst>
          </a:prstGeom>
          <a:solidFill>
            <a:srgbClr val="00A6A6">
              <a:alpha val="5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0" y="372160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Classroom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40680" y="3721608"/>
            <a:ext cx="1481328" cy="347472"/>
          </a:xfrm>
          <a:prstGeom prst="roundRect">
            <a:avLst>
              <a:gd name="adj" fmla="val 13158"/>
            </a:avLst>
          </a:prstGeom>
          <a:solidFill>
            <a:srgbClr val="00A6A6">
              <a:alpha val="5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440680" y="372160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Placement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709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Built as a Live Data Science Project  —  Cyber Square Institute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Square Institute – Performance Dashboard</dc:title>
  <dc:subject>PptxGenJS Presentation</dc:subject>
  <dc:creator>PptxGenJS</dc:creator>
  <cp:lastModifiedBy>PptxGenJS</cp:lastModifiedBy>
  <cp:revision>1</cp:revision>
  <dcterms:created xsi:type="dcterms:W3CDTF">2026-05-12T05:00:54Z</dcterms:created>
  <dcterms:modified xsi:type="dcterms:W3CDTF">2026-05-12T05:00:54Z</dcterms:modified>
</cp:coreProperties>
</file>